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92"/>
    <p:restoredTop sz="96058"/>
  </p:normalViewPr>
  <p:slideViewPr>
    <p:cSldViewPr snapToGrid="0">
      <p:cViewPr varScale="1">
        <p:scale>
          <a:sx n="119" d="100"/>
          <a:sy n="119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vião em círculo vermelho">
            <a:extLst>
              <a:ext uri="{FF2B5EF4-FFF2-40B4-BE49-F238E27FC236}">
                <a16:creationId xmlns:a16="http://schemas.microsoft.com/office/drawing/2014/main" id="{23557FBA-6B22-C53D-AD44-1F145A1194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</a:blip>
          <a:srcRect l="17307" r="10578" b="1"/>
          <a:stretch/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596CFD-632D-1594-0597-1519BC411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6" y="1678666"/>
            <a:ext cx="5123515" cy="2369093"/>
          </a:xfrm>
        </p:spPr>
        <p:txBody>
          <a:bodyPr>
            <a:normAutofit/>
          </a:bodyPr>
          <a:lstStyle/>
          <a:p>
            <a:r>
              <a:rPr lang="pt-PT" sz="4800" dirty="0"/>
              <a:t>Projeto 2 – </a:t>
            </a:r>
            <a:r>
              <a:rPr lang="pt-PT" sz="4800"/>
              <a:t>Flight</a:t>
            </a:r>
            <a:r>
              <a:rPr lang="pt-PT" sz="4800" dirty="0"/>
              <a:t> Manager</a:t>
            </a:r>
            <a:endParaRPr lang="pt-PT" sz="48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F3F76D-724D-046F-ABEE-DD21A1242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 sz="1100"/>
              <a:t>Algoritmos e Estruturas de Dados</a:t>
            </a:r>
          </a:p>
          <a:p>
            <a:pPr>
              <a:lnSpc>
                <a:spcPct val="90000"/>
              </a:lnSpc>
            </a:pPr>
            <a:endParaRPr lang="pt-PT" sz="1100"/>
          </a:p>
          <a:p>
            <a:pPr>
              <a:lnSpc>
                <a:spcPct val="90000"/>
              </a:lnSpc>
            </a:pPr>
            <a:r>
              <a:rPr lang="pt-PT" sz="1100"/>
              <a:t>Tomás Ferreira - up202002749</a:t>
            </a:r>
          </a:p>
          <a:p>
            <a:pPr>
              <a:lnSpc>
                <a:spcPct val="90000"/>
              </a:lnSpc>
            </a:pPr>
            <a:r>
              <a:rPr lang="pt-PT" sz="1100"/>
              <a:t>Gonçalo Moreira – up202108804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432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4BEAA-641D-480F-8867-C5D5546D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t-PT" dirty="0"/>
              <a:t>Classes</a:t>
            </a:r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7C043FD-BF5B-C955-30E2-8661C500E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t-PT" dirty="0" err="1"/>
              <a:t>Airline.cpp</a:t>
            </a:r>
            <a:r>
              <a:rPr lang="pt-PT" dirty="0"/>
              <a:t> (</a:t>
            </a:r>
            <a:r>
              <a:rPr lang="pt-PT" dirty="0" err="1"/>
              <a:t>airlines.csv</a:t>
            </a:r>
            <a:r>
              <a:rPr lang="pt-PT" dirty="0"/>
              <a:t>)</a:t>
            </a:r>
          </a:p>
          <a:p>
            <a:r>
              <a:rPr lang="pt-PT" dirty="0" err="1"/>
              <a:t>Flight.cpp</a:t>
            </a:r>
            <a:r>
              <a:rPr lang="pt-PT" dirty="0"/>
              <a:t> (</a:t>
            </a:r>
            <a:r>
              <a:rPr lang="pt-PT" dirty="0" err="1"/>
              <a:t>flights.csv</a:t>
            </a:r>
            <a:r>
              <a:rPr lang="pt-PT" dirty="0"/>
              <a:t>)</a:t>
            </a:r>
          </a:p>
          <a:p>
            <a:r>
              <a:rPr lang="pt-PT" dirty="0" err="1"/>
              <a:t>Airport.cpp</a:t>
            </a:r>
            <a:r>
              <a:rPr lang="pt-PT" dirty="0"/>
              <a:t> (</a:t>
            </a:r>
            <a:r>
              <a:rPr lang="pt-PT" dirty="0" err="1"/>
              <a:t>airports.csv</a:t>
            </a:r>
            <a:r>
              <a:rPr lang="pt-PT" dirty="0"/>
              <a:t>)</a:t>
            </a:r>
          </a:p>
          <a:p>
            <a:r>
              <a:rPr lang="pt-PT" dirty="0" err="1"/>
              <a:t>Graph.cpp</a:t>
            </a:r>
            <a:r>
              <a:rPr lang="pt-PT" dirty="0"/>
              <a:t> (*.</a:t>
            </a:r>
            <a:r>
              <a:rPr lang="pt-PT" dirty="0" err="1"/>
              <a:t>csv</a:t>
            </a:r>
            <a:r>
              <a:rPr lang="pt-PT" dirty="0"/>
              <a:t>)</a:t>
            </a:r>
          </a:p>
          <a:p>
            <a:endParaRPr lang="pt-PT" dirty="0"/>
          </a:p>
        </p:txBody>
      </p:sp>
      <p:pic>
        <p:nvPicPr>
          <p:cNvPr id="5" name="Imagem 4" descr="Uma imagem com texto, captura de ecrã, Tipo de letra, design&#10;&#10;Descrição gerada automaticamente">
            <a:extLst>
              <a:ext uri="{FF2B5EF4-FFF2-40B4-BE49-F238E27FC236}">
                <a16:creationId xmlns:a16="http://schemas.microsoft.com/office/drawing/2014/main" id="{B074675B-35B5-342A-F9E8-3F5104B4F6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3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249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7861451-7FB6-D1ED-1F70-4E9AEBC9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10" y="4758611"/>
            <a:ext cx="8508893" cy="102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 err="1"/>
              <a:t>ReadFiles</a:t>
            </a:r>
            <a:r>
              <a:rPr lang="en-US" sz="5400" dirty="0"/>
              <a:t>()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D002A8B5-C5B9-5967-D28A-E9942D07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224" y="815704"/>
            <a:ext cx="3518679" cy="3193199"/>
          </a:xfrm>
          <a:prstGeom prst="rect">
            <a:avLst/>
          </a:prstGeom>
        </p:spPr>
      </p:pic>
      <p:pic>
        <p:nvPicPr>
          <p:cNvPr id="5" name="Marcador de Posição de Conteúdo 4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2CC57670-F467-45E6-4A25-A60825B32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097" y="815704"/>
            <a:ext cx="3747600" cy="3192116"/>
          </a:xfrm>
          <a:prstGeom prst="rect">
            <a:avLst/>
          </a:prstGeom>
        </p:spPr>
      </p:pic>
      <p:pic>
        <p:nvPicPr>
          <p:cNvPr id="7" name="Imagem 6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3E7B5B24-27D1-28E8-CDFA-2C7429ABA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262" y="807012"/>
            <a:ext cx="3846397" cy="319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9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CED3E-B575-8ECD-1C6F-D5DF5D32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Leitura de Dados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D3CC19E-70FF-A8C8-8807-B08A93ED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dirty="0"/>
              <a:t>Para realizar a leitura dos ficheiros .</a:t>
            </a:r>
            <a:r>
              <a:rPr lang="pt-PT" dirty="0" err="1"/>
              <a:t>csv</a:t>
            </a:r>
            <a:r>
              <a:rPr lang="pt-PT" dirty="0"/>
              <a:t>, utilizamos os métodos de </a:t>
            </a:r>
            <a:r>
              <a:rPr lang="pt-PT" dirty="0" err="1"/>
              <a:t>iss</a:t>
            </a:r>
            <a:r>
              <a:rPr lang="pt-PT" dirty="0"/>
              <a:t> (</a:t>
            </a:r>
            <a:r>
              <a:rPr lang="pt-PT" b="1" dirty="0" err="1"/>
              <a:t>istringstream</a:t>
            </a:r>
            <a:r>
              <a:rPr lang="pt-PT" dirty="0"/>
              <a:t>).</a:t>
            </a:r>
          </a:p>
          <a:p>
            <a:endParaRPr lang="pt-PT" dirty="0"/>
          </a:p>
          <a:p>
            <a:r>
              <a:rPr lang="pt-PT" dirty="0"/>
              <a:t>Decidimos guardar os dados lidos em vetores de </a:t>
            </a:r>
            <a:r>
              <a:rPr lang="pt-PT" dirty="0" err="1"/>
              <a:t>strings</a:t>
            </a:r>
            <a:r>
              <a:rPr lang="pt-PT" dirty="0"/>
              <a:t> temporárias que, posteriormente, foram utilizados para a construção dos objetos (</a:t>
            </a:r>
            <a:r>
              <a:rPr lang="pt-PT" dirty="0" err="1"/>
              <a:t>Airport</a:t>
            </a:r>
            <a:r>
              <a:rPr lang="pt-PT" dirty="0"/>
              <a:t>, </a:t>
            </a:r>
            <a:r>
              <a:rPr lang="pt-PT" dirty="0" err="1"/>
              <a:t>Airline</a:t>
            </a:r>
            <a:r>
              <a:rPr lang="pt-PT" dirty="0"/>
              <a:t>, </a:t>
            </a:r>
            <a:r>
              <a:rPr lang="pt-PT" dirty="0" err="1"/>
              <a:t>Flight</a:t>
            </a:r>
            <a:r>
              <a:rPr lang="pt-PT" dirty="0"/>
              <a:t>). Após cada objeto ser criado, foram inseridos na sua estrutura de dados respetiva. (</a:t>
            </a:r>
            <a:r>
              <a:rPr lang="pt-PT" u="sng" dirty="0" err="1"/>
              <a:t>Airport</a:t>
            </a:r>
            <a:r>
              <a:rPr lang="pt-PT" u="sng" dirty="0"/>
              <a:t> e </a:t>
            </a:r>
            <a:r>
              <a:rPr lang="pt-PT" u="sng" dirty="0" err="1"/>
              <a:t>Airline</a:t>
            </a:r>
            <a:r>
              <a:rPr lang="pt-PT" u="sng" dirty="0"/>
              <a:t> – </a:t>
            </a:r>
            <a:r>
              <a:rPr lang="pt-PT" u="sng" dirty="0" err="1"/>
              <a:t>Unordered</a:t>
            </a:r>
            <a:r>
              <a:rPr lang="pt-PT" u="sng" dirty="0"/>
              <a:t> </a:t>
            </a:r>
            <a:r>
              <a:rPr lang="pt-PT" u="sng" dirty="0" err="1"/>
              <a:t>Map</a:t>
            </a:r>
            <a:r>
              <a:rPr lang="pt-PT" dirty="0"/>
              <a:t> na classe </a:t>
            </a:r>
            <a:r>
              <a:rPr lang="pt-PT" u="sng" dirty="0" err="1"/>
              <a:t>Graph</a:t>
            </a:r>
            <a:r>
              <a:rPr lang="pt-PT" dirty="0"/>
              <a:t>), (</a:t>
            </a:r>
            <a:r>
              <a:rPr lang="pt-PT" u="sng" dirty="0" err="1"/>
              <a:t>Flight</a:t>
            </a:r>
            <a:r>
              <a:rPr lang="pt-PT" u="sng" dirty="0"/>
              <a:t> – </a:t>
            </a:r>
            <a:r>
              <a:rPr lang="pt-PT" u="sng" dirty="0" err="1"/>
              <a:t>vector</a:t>
            </a:r>
            <a:r>
              <a:rPr lang="pt-PT" u="sng" dirty="0"/>
              <a:t>&lt;</a:t>
            </a:r>
            <a:r>
              <a:rPr lang="pt-PT" u="sng" dirty="0" err="1"/>
              <a:t>flights</a:t>
            </a:r>
            <a:r>
              <a:rPr lang="pt-PT" u="sng" dirty="0"/>
              <a:t>&gt;</a:t>
            </a:r>
            <a:r>
              <a:rPr lang="pt-PT" dirty="0"/>
              <a:t> na classe </a:t>
            </a:r>
            <a:r>
              <a:rPr lang="pt-PT" u="sng" dirty="0" err="1"/>
              <a:t>Airport</a:t>
            </a:r>
            <a:r>
              <a:rPr lang="pt-PT" dirty="0"/>
              <a:t>).</a:t>
            </a:r>
          </a:p>
          <a:p>
            <a:pPr marL="0" indent="0">
              <a:buNone/>
            </a:pPr>
            <a:endParaRPr lang="pt-PT" dirty="0"/>
          </a:p>
          <a:p>
            <a:r>
              <a:rPr lang="pt-PT" dirty="0"/>
              <a:t>O grafo em si tem como nodes os aeroportos e cada aeroporto tem um vetor de </a:t>
            </a:r>
            <a:r>
              <a:rPr lang="pt-PT" dirty="0" err="1"/>
              <a:t>Flights</a:t>
            </a:r>
            <a:r>
              <a:rPr lang="pt-PT" dirty="0"/>
              <a:t> como </a:t>
            </a:r>
            <a:r>
              <a:rPr lang="pt-PT" dirty="0" err="1"/>
              <a:t>edges</a:t>
            </a:r>
            <a:r>
              <a:rPr lang="pt-PT" dirty="0"/>
              <a:t>. Dentro de cada </a:t>
            </a:r>
            <a:r>
              <a:rPr lang="pt-PT" dirty="0" err="1"/>
              <a:t>Flight</a:t>
            </a:r>
            <a:r>
              <a:rPr lang="pt-PT" dirty="0"/>
              <a:t> (</a:t>
            </a:r>
            <a:r>
              <a:rPr lang="pt-PT" dirty="0" err="1"/>
              <a:t>edge</a:t>
            </a:r>
            <a:r>
              <a:rPr lang="pt-PT" dirty="0"/>
              <a:t>) estão guardados parâmetros como o aeroporto de destino, a companhia </a:t>
            </a:r>
            <a:r>
              <a:rPr lang="pt-PT" dirty="0" err="1"/>
              <a:t>áerea</a:t>
            </a:r>
            <a:r>
              <a:rPr lang="pt-PT" dirty="0"/>
              <a:t> utilizada e a distância do voo.</a:t>
            </a:r>
          </a:p>
        </p:txBody>
      </p:sp>
    </p:spTree>
    <p:extLst>
      <p:ext uri="{BB962C8B-B14F-4D97-AF65-F5344CB8AC3E}">
        <p14:creationId xmlns:p14="http://schemas.microsoft.com/office/powerpoint/2010/main" val="76713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7A632-9A67-6D35-9990-3D6636E4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Funcionalidades</a:t>
            </a:r>
          </a:p>
        </p:txBody>
      </p:sp>
      <p:pic>
        <p:nvPicPr>
          <p:cNvPr id="5" name="Marcador de Posição de Conteúdo 4" descr="Uma imagem com texto, captura de ecrã, Tipo de letra, menu&#10;&#10;Descrição gerada automaticamente">
            <a:extLst>
              <a:ext uri="{FF2B5EF4-FFF2-40B4-BE49-F238E27FC236}">
                <a16:creationId xmlns:a16="http://schemas.microsoft.com/office/drawing/2014/main" id="{77E3A31E-B1C1-3273-0C9A-3A7AF45CB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8861" y="1930400"/>
            <a:ext cx="6576221" cy="388080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621CF73-192B-3BDC-518B-E89BAA2C4F14}"/>
              </a:ext>
            </a:extLst>
          </p:cNvPr>
          <p:cNvSpPr txBox="1"/>
          <p:nvPr/>
        </p:nvSpPr>
        <p:spPr>
          <a:xfrm>
            <a:off x="416918" y="1454754"/>
            <a:ext cx="45617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readFiles</a:t>
            </a:r>
            <a:r>
              <a:rPr lang="pt-PT" sz="1400" b="1" dirty="0"/>
              <a:t>() </a:t>
            </a:r>
            <a:r>
              <a:rPr lang="pt-PT" sz="1400" dirty="0"/>
              <a:t>– lê ficheiros de input (.</a:t>
            </a:r>
            <a:r>
              <a:rPr lang="pt-PT" sz="1400" dirty="0" err="1"/>
              <a:t>csv</a:t>
            </a:r>
            <a:r>
              <a:rPr lang="pt-PT" sz="1400" dirty="0"/>
              <a:t>). </a:t>
            </a:r>
            <a:r>
              <a:rPr lang="pt-PT" sz="1400" dirty="0">
                <a:solidFill>
                  <a:srgbClr val="92D050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calculateDistance</a:t>
            </a:r>
            <a:r>
              <a:rPr lang="pt-PT" sz="1400" b="1" dirty="0"/>
              <a:t>() </a:t>
            </a:r>
            <a:r>
              <a:rPr lang="pt-PT" sz="1400" dirty="0"/>
              <a:t>– calcula a distância entre dois aeroportos. </a:t>
            </a:r>
            <a:r>
              <a:rPr lang="pt-PT" sz="1400" dirty="0">
                <a:solidFill>
                  <a:schemeClr val="accent1"/>
                </a:solidFill>
              </a:rPr>
              <a:t>O(1)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bestTravel</a:t>
            </a:r>
            <a:r>
              <a:rPr lang="pt-PT" sz="1400" b="1" dirty="0"/>
              <a:t>() </a:t>
            </a:r>
            <a:r>
              <a:rPr lang="pt-PT" sz="1400" dirty="0"/>
              <a:t>- retorna a melhor possibilidade de voos entre dois aeroportos ou cidades. </a:t>
            </a:r>
            <a:r>
              <a:rPr lang="pt-PT" sz="1400" dirty="0">
                <a:solidFill>
                  <a:schemeClr val="accent1"/>
                </a:solidFill>
              </a:rPr>
              <a:t>O(|V| + |E|)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bestTravelAirport</a:t>
            </a:r>
            <a:r>
              <a:rPr lang="pt-PT" sz="1400" b="1" dirty="0"/>
              <a:t>() </a:t>
            </a:r>
            <a:r>
              <a:rPr lang="pt-PT" sz="1400" dirty="0"/>
              <a:t>– </a:t>
            </a:r>
            <a:r>
              <a:rPr lang="pt-PT" sz="1400" dirty="0" err="1"/>
              <a:t>bestTravel</a:t>
            </a:r>
            <a:r>
              <a:rPr lang="pt-PT" sz="1400" dirty="0"/>
              <a:t>() se forem escolhidos aeroportos.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bestTravelCity</a:t>
            </a:r>
            <a:r>
              <a:rPr lang="pt-PT" sz="1400" b="1" dirty="0"/>
              <a:t>() </a:t>
            </a:r>
            <a:r>
              <a:rPr lang="pt-PT" sz="1400" dirty="0"/>
              <a:t>- </a:t>
            </a:r>
            <a:r>
              <a:rPr lang="pt-PT" sz="1400" dirty="0" err="1"/>
              <a:t>bestTravel</a:t>
            </a:r>
            <a:r>
              <a:rPr lang="pt-PT" sz="1400" dirty="0"/>
              <a:t>() se forem escolhidas cidades. </a:t>
            </a:r>
            <a:r>
              <a:rPr lang="pt-PT" sz="1400" dirty="0">
                <a:solidFill>
                  <a:schemeClr val="accent1"/>
                </a:solidFill>
              </a:rPr>
              <a:t>O(n^2)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getNumberofFlightsforAirport</a:t>
            </a:r>
            <a:r>
              <a:rPr lang="pt-PT" sz="1400" b="1" dirty="0"/>
              <a:t>()</a:t>
            </a:r>
            <a:r>
              <a:rPr lang="pt-PT" sz="1400" dirty="0"/>
              <a:t> – retorna o número de voos que saem de um aeroporto em específico. </a:t>
            </a:r>
            <a:r>
              <a:rPr lang="pt-PT" sz="1400" dirty="0">
                <a:solidFill>
                  <a:schemeClr val="accent1"/>
                </a:solidFill>
              </a:rPr>
              <a:t>O(1)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getNumberofAirlinesAirport</a:t>
            </a:r>
            <a:r>
              <a:rPr lang="pt-PT" sz="1400" b="1" dirty="0"/>
              <a:t>()</a:t>
            </a:r>
            <a:r>
              <a:rPr lang="pt-PT" sz="1400" dirty="0"/>
              <a:t> – retorna o número de companhias aéreas que tem voos num aeroporto específico.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0811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10DC2-650F-C319-5331-BDCA4FA5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Funcionalidades</a:t>
            </a:r>
          </a:p>
        </p:txBody>
      </p:sp>
      <p:pic>
        <p:nvPicPr>
          <p:cNvPr id="5" name="Marcador de Posição de Conteúdo 4" descr="Uma imagem com texto, captura de ecrã, Tipo de letra, menu&#10;&#10;Descrição gerada automaticamente">
            <a:extLst>
              <a:ext uri="{FF2B5EF4-FFF2-40B4-BE49-F238E27FC236}">
                <a16:creationId xmlns:a16="http://schemas.microsoft.com/office/drawing/2014/main" id="{032B1F8C-A998-1136-556A-229995A76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8598" y="1930400"/>
            <a:ext cx="6578934" cy="3881437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8506FF3-00BC-DE8E-179F-4AE926F0DDF9}"/>
              </a:ext>
            </a:extLst>
          </p:cNvPr>
          <p:cNvSpPr txBox="1"/>
          <p:nvPr/>
        </p:nvSpPr>
        <p:spPr>
          <a:xfrm>
            <a:off x="414468" y="1455519"/>
            <a:ext cx="4561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listAirlines</a:t>
            </a:r>
            <a:r>
              <a:rPr lang="pt-PT" sz="1400" b="1" dirty="0"/>
              <a:t>()</a:t>
            </a:r>
            <a:r>
              <a:rPr lang="pt-PT" sz="1400" dirty="0"/>
              <a:t> – imprime o nome das companhias aéreas com voos nesse aeroporto.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listFlights</a:t>
            </a:r>
            <a:r>
              <a:rPr lang="pt-PT" sz="1400" b="1" dirty="0"/>
              <a:t>()</a:t>
            </a:r>
            <a:r>
              <a:rPr lang="pt-PT" sz="1400" dirty="0"/>
              <a:t> – imprime os voos que saem desse aeroporto.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getNumberofReachableCities</a:t>
            </a:r>
            <a:r>
              <a:rPr lang="pt-PT" sz="1400" b="1" dirty="0"/>
              <a:t>() </a:t>
            </a:r>
            <a:r>
              <a:rPr lang="pt-PT" sz="1400" dirty="0"/>
              <a:t>- retorna o número de cidades que são possíveis de atingir com apenas um voo partindo de um aeroporto específico.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getNumberofReachableCountries</a:t>
            </a:r>
            <a:r>
              <a:rPr lang="pt-PT" sz="1400" b="1" dirty="0"/>
              <a:t>()</a:t>
            </a:r>
            <a:r>
              <a:rPr lang="pt-PT" sz="1400" dirty="0"/>
              <a:t> - retorna o número de países possíveis de atingir com apenas um voo partindo de um aeroporto em específico.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airlineBestTravel</a:t>
            </a:r>
            <a:r>
              <a:rPr lang="pt-PT" sz="1400" b="1" dirty="0"/>
              <a:t>()</a:t>
            </a:r>
            <a:r>
              <a:rPr lang="pt-PT" sz="1400" dirty="0"/>
              <a:t> – retorna a melhor combinação de voos entre dois aeroportos usando apenas uma companhia aérea. </a:t>
            </a:r>
            <a:r>
              <a:rPr lang="pt-PT" sz="1400" dirty="0">
                <a:solidFill>
                  <a:schemeClr val="accent1"/>
                </a:solidFill>
              </a:rPr>
              <a:t>O(|V| + |E|)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oneAirlineBestTravel</a:t>
            </a:r>
            <a:r>
              <a:rPr lang="pt-PT" sz="1400" b="1" dirty="0"/>
              <a:t>()</a:t>
            </a:r>
            <a:r>
              <a:rPr lang="pt-PT" sz="1400" dirty="0"/>
              <a:t> – imprime o resultado da função </a:t>
            </a:r>
            <a:r>
              <a:rPr lang="pt-PT" sz="1400" dirty="0" err="1"/>
              <a:t>airlineBestTravel</a:t>
            </a:r>
            <a:r>
              <a:rPr lang="pt-PT" sz="1400" dirty="0"/>
              <a:t>().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161861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51301-5465-1DD9-C422-72559AC7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Funcionalidades</a:t>
            </a:r>
          </a:p>
        </p:txBody>
      </p:sp>
      <p:pic>
        <p:nvPicPr>
          <p:cNvPr id="5" name="Marcador de Posição de Conteúdo 4" descr="Uma imagem com texto, captura de ecrã, Tipo de letra, menu&#10;&#10;Descrição gerada automaticamente">
            <a:extLst>
              <a:ext uri="{FF2B5EF4-FFF2-40B4-BE49-F238E27FC236}">
                <a16:creationId xmlns:a16="http://schemas.microsoft.com/office/drawing/2014/main" id="{C54E92E7-5B68-61C3-F56C-D1E486520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1961" y="1930400"/>
            <a:ext cx="6577200" cy="3899087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250DF4E-B2E3-2A3F-9600-2770CA4CD304}"/>
              </a:ext>
            </a:extLst>
          </p:cNvPr>
          <p:cNvSpPr txBox="1"/>
          <p:nvPr/>
        </p:nvSpPr>
        <p:spPr>
          <a:xfrm>
            <a:off x="472610" y="1520784"/>
            <a:ext cx="4561200" cy="483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multipleAirlinesBestTravel</a:t>
            </a:r>
            <a:r>
              <a:rPr lang="pt-PT" sz="1400" b="1" dirty="0"/>
              <a:t>()</a:t>
            </a:r>
            <a:r>
              <a:rPr lang="pt-PT" sz="1400" dirty="0"/>
              <a:t> – calcula o melhor caminho possível entre dois aeroportos usando x companhias aéreas (sendo x definido pelo utilizador). </a:t>
            </a:r>
            <a:r>
              <a:rPr lang="pt-PT" sz="1400" dirty="0">
                <a:solidFill>
                  <a:schemeClr val="accent1"/>
                </a:solidFill>
              </a:rPr>
              <a:t>O(|V| + |E|)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multipleAirlinesPrint</a:t>
            </a:r>
            <a:r>
              <a:rPr lang="pt-PT" sz="1400" b="1" dirty="0"/>
              <a:t>()</a:t>
            </a:r>
            <a:r>
              <a:rPr lang="pt-PT" sz="1400" dirty="0"/>
              <a:t> – imprime o resultado da função </a:t>
            </a:r>
            <a:r>
              <a:rPr lang="pt-PT" sz="1400" dirty="0" err="1"/>
              <a:t>multipleAirlinesBestTravel</a:t>
            </a:r>
            <a:r>
              <a:rPr lang="pt-PT" sz="1400" dirty="0"/>
              <a:t>(). </a:t>
            </a:r>
            <a:r>
              <a:rPr lang="pt-PT" sz="1400" dirty="0">
                <a:solidFill>
                  <a:schemeClr val="accent1"/>
                </a:solidFill>
              </a:rPr>
              <a:t>O(n)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multipleFlightsReachableCities</a:t>
            </a:r>
            <a:r>
              <a:rPr lang="pt-PT" sz="1400" b="1" dirty="0"/>
              <a:t>()</a:t>
            </a:r>
            <a:r>
              <a:rPr lang="pt-PT" sz="1400" dirty="0"/>
              <a:t> – retorna o número de cidades que são possíveis de atingir com x voos partindo de um aeroporto específico (sendo x definido pelo utilizador). </a:t>
            </a:r>
            <a:r>
              <a:rPr lang="pt-PT" sz="1400" dirty="0">
                <a:solidFill>
                  <a:schemeClr val="accent1"/>
                </a:solidFill>
              </a:rPr>
              <a:t>O(n^2)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1" dirty="0" err="1"/>
              <a:t>multilpleFlightsReachableCountries</a:t>
            </a:r>
            <a:r>
              <a:rPr lang="pt-PT" sz="1400" b="1" dirty="0"/>
              <a:t>()</a:t>
            </a:r>
            <a:r>
              <a:rPr lang="pt-PT" sz="1400" dirty="0"/>
              <a:t> – retorna o número de países possíveis de atingir com x voos partindo de um aeroporto em específico (sendo x definido pelo utilizador). </a:t>
            </a:r>
            <a:r>
              <a:rPr lang="pt-PT" sz="1400" dirty="0">
                <a:solidFill>
                  <a:schemeClr val="accent1"/>
                </a:solidFill>
              </a:rPr>
              <a:t>O(n^2)</a:t>
            </a:r>
          </a:p>
        </p:txBody>
      </p:sp>
    </p:spTree>
    <p:extLst>
      <p:ext uri="{BB962C8B-B14F-4D97-AF65-F5344CB8AC3E}">
        <p14:creationId xmlns:p14="http://schemas.microsoft.com/office/powerpoint/2010/main" val="6357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4D300-1ED2-A39E-4ADE-3F215FE0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Interface (UI)</a:t>
            </a:r>
          </a:p>
        </p:txBody>
      </p:sp>
      <p:pic>
        <p:nvPicPr>
          <p:cNvPr id="5" name="Marcador de Posição de Conteúdo 4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6F63F339-42CA-0C27-5E6B-75CA3100A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5904" y="1623459"/>
            <a:ext cx="4123350" cy="3304142"/>
          </a:xfrm>
        </p:spPr>
      </p:pic>
      <p:pic>
        <p:nvPicPr>
          <p:cNvPr id="7" name="Imagem 6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A884A661-2AC1-E35D-45C3-62B15F46E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416" y="1623461"/>
            <a:ext cx="3843837" cy="3304140"/>
          </a:xfrm>
          <a:prstGeom prst="rect">
            <a:avLst/>
          </a:prstGeom>
        </p:spPr>
      </p:pic>
      <p:pic>
        <p:nvPicPr>
          <p:cNvPr id="9" name="Imagem 8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A07B02DC-7AB8-8B63-136F-A43EB249C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904" y="5234541"/>
            <a:ext cx="4123350" cy="1283743"/>
          </a:xfrm>
          <a:prstGeom prst="rect">
            <a:avLst/>
          </a:prstGeom>
        </p:spPr>
      </p:pic>
      <p:pic>
        <p:nvPicPr>
          <p:cNvPr id="11" name="Imagem 10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E2A38E9B-DB76-CAC2-869C-E61B501B5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416" y="5230647"/>
            <a:ext cx="3843837" cy="128763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CE2B14-1E40-1B6D-BC2A-082F0E3606E2}"/>
              </a:ext>
            </a:extLst>
          </p:cNvPr>
          <p:cNvSpPr txBox="1"/>
          <p:nvPr/>
        </p:nvSpPr>
        <p:spPr>
          <a:xfrm>
            <a:off x="677334" y="1623459"/>
            <a:ext cx="25018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Decidimos inserir vários tipos de Menus para as diferentes funcionalidades do programa melhorando assim a experiência do utilizador.</a:t>
            </a:r>
          </a:p>
        </p:txBody>
      </p:sp>
    </p:spTree>
    <p:extLst>
      <p:ext uri="{BB962C8B-B14F-4D97-AF65-F5344CB8AC3E}">
        <p14:creationId xmlns:p14="http://schemas.microsoft.com/office/powerpoint/2010/main" val="323694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072AEAA-A5DE-28C0-9EBE-7E1C6237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UX</a:t>
            </a:r>
          </a:p>
        </p:txBody>
      </p:sp>
      <p:pic>
        <p:nvPicPr>
          <p:cNvPr id="5" name="Marcador de Posição de Conteúdo 4" descr="Uma imagem com texto, captura de ecrã, preto, design&#10;&#10;Descrição gerada automaticamente">
            <a:extLst>
              <a:ext uri="{FF2B5EF4-FFF2-40B4-BE49-F238E27FC236}">
                <a16:creationId xmlns:a16="http://schemas.microsoft.com/office/drawing/2014/main" id="{BA861930-9E4D-7C8D-714E-9BE41AD29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226" y="934222"/>
            <a:ext cx="6267517" cy="361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0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69744-45C8-A8C4-9A4E-28464CE3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445" y="609600"/>
            <a:ext cx="3183556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PT" sz="2800"/>
              <a:t>Destaque para a melhor Funcionalidade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EEEF4F-B68B-F2AC-7512-3FC28DBEC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445" y="2367627"/>
            <a:ext cx="3176589" cy="3880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Entre as </a:t>
            </a:r>
            <a:r>
              <a:rPr lang="en-US" sz="1400" dirty="0" err="1"/>
              <a:t>variadas</a:t>
            </a:r>
            <a:r>
              <a:rPr lang="en-US" sz="1400" dirty="0"/>
              <a:t> </a:t>
            </a:r>
            <a:r>
              <a:rPr lang="en-US" sz="1400" dirty="0" err="1"/>
              <a:t>funções</a:t>
            </a:r>
            <a:r>
              <a:rPr lang="en-US" sz="1400" dirty="0"/>
              <a:t> que </a:t>
            </a:r>
            <a:r>
              <a:rPr lang="en-US" sz="1400" dirty="0" err="1"/>
              <a:t>implementamos</a:t>
            </a:r>
            <a:r>
              <a:rPr lang="en-US" sz="1400" dirty="0"/>
              <a:t>,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nossa</a:t>
            </a:r>
            <a:r>
              <a:rPr lang="en-US" sz="1400" dirty="0"/>
              <a:t> </a:t>
            </a:r>
            <a:r>
              <a:rPr lang="en-US" sz="1400" dirty="0" err="1"/>
              <a:t>opinião</a:t>
            </a:r>
            <a:r>
              <a:rPr lang="en-US" sz="1400" dirty="0"/>
              <a:t>,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é</a:t>
            </a:r>
            <a:r>
              <a:rPr lang="en-US" sz="1400" dirty="0"/>
              <a:t> das que </a:t>
            </a:r>
            <a:r>
              <a:rPr lang="en-US" sz="1400" dirty="0" err="1"/>
              <a:t>está</a:t>
            </a:r>
            <a:r>
              <a:rPr lang="en-US" sz="1400" dirty="0"/>
              <a:t> </a:t>
            </a:r>
            <a:r>
              <a:rPr lang="en-US" sz="1400" dirty="0" err="1"/>
              <a:t>mais</a:t>
            </a:r>
            <a:r>
              <a:rPr lang="en-US" sz="1400" dirty="0"/>
              <a:t> </a:t>
            </a:r>
            <a:r>
              <a:rPr lang="en-US" sz="1400" dirty="0" err="1"/>
              <a:t>bem</a:t>
            </a:r>
            <a:r>
              <a:rPr lang="en-US" sz="1400" dirty="0"/>
              <a:t> </a:t>
            </a:r>
            <a:r>
              <a:rPr lang="en-US" sz="1400" dirty="0" err="1"/>
              <a:t>construída</a:t>
            </a:r>
            <a:r>
              <a:rPr lang="en-US" sz="1400" dirty="0"/>
              <a:t>. </a:t>
            </a:r>
            <a:r>
              <a:rPr lang="en-US" sz="1400" dirty="0" err="1"/>
              <a:t>Destacamos</a:t>
            </a:r>
            <a:r>
              <a:rPr lang="en-US" sz="1400" dirty="0"/>
              <a:t>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função</a:t>
            </a:r>
            <a:r>
              <a:rPr lang="en-US" sz="1400" dirty="0"/>
              <a:t> </a:t>
            </a:r>
            <a:r>
              <a:rPr lang="en-US" sz="1400" dirty="0" err="1"/>
              <a:t>bestTravel</a:t>
            </a:r>
            <a:r>
              <a:rPr lang="en-US" sz="1400" dirty="0"/>
              <a:t>() que </a:t>
            </a:r>
            <a:r>
              <a:rPr lang="en-US" sz="1400" dirty="0" err="1"/>
              <a:t>calcula</a:t>
            </a:r>
            <a:r>
              <a:rPr lang="en-US" sz="1400" dirty="0"/>
              <a:t> o </a:t>
            </a:r>
            <a:r>
              <a:rPr lang="en-US" sz="1400" dirty="0" err="1"/>
              <a:t>melhor</a:t>
            </a:r>
            <a:r>
              <a:rPr lang="en-US" sz="1400" dirty="0"/>
              <a:t> </a:t>
            </a:r>
            <a:r>
              <a:rPr lang="en-US" sz="1400" dirty="0" err="1"/>
              <a:t>caminho</a:t>
            </a:r>
            <a:r>
              <a:rPr lang="en-US" sz="1400" dirty="0"/>
              <a:t> entre </a:t>
            </a:r>
            <a:r>
              <a:rPr lang="en-US" sz="1400" dirty="0" err="1"/>
              <a:t>dois</a:t>
            </a:r>
            <a:r>
              <a:rPr lang="en-US" sz="1400" dirty="0"/>
              <a:t> </a:t>
            </a:r>
            <a:r>
              <a:rPr lang="en-US" sz="1400" dirty="0" err="1"/>
              <a:t>aeroportos</a:t>
            </a:r>
            <a:r>
              <a:rPr lang="en-US" sz="1400" dirty="0"/>
              <a:t> </a:t>
            </a:r>
            <a:r>
              <a:rPr lang="en-US" sz="1400" dirty="0" err="1"/>
              <a:t>usando</a:t>
            </a:r>
            <a:r>
              <a:rPr lang="en-US" sz="1400" dirty="0"/>
              <a:t> BFS (Breadth-First-Search).</a:t>
            </a:r>
          </a:p>
        </p:txBody>
      </p:sp>
      <p:pic>
        <p:nvPicPr>
          <p:cNvPr id="5" name="Marcador de Posição de Conteúdo 4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DF8D48BA-4594-7ABF-4FB6-AA669D6F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74" y="804672"/>
            <a:ext cx="3914673" cy="523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D5C60-422C-6B18-D69C-D4A04F94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Principais Dificuldades e Avaliação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42527C6-1CC1-F418-1EC8-662F9610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Interpretação do enunciado e, na implementação das funções, a exigência de um grande domínio prático e teórico da matéria.</a:t>
            </a:r>
          </a:p>
          <a:p>
            <a:endParaRPr lang="pt-PT" dirty="0"/>
          </a:p>
          <a:p>
            <a:r>
              <a:rPr lang="pt-PT" sz="1400" dirty="0"/>
              <a:t>Avaliação do grupo:</a:t>
            </a:r>
          </a:p>
          <a:p>
            <a:pPr lvl="1">
              <a:buFont typeface="+mj-lt"/>
              <a:buAutoNum type="arabicPeriod"/>
            </a:pPr>
            <a:r>
              <a:rPr lang="pt-PT" sz="1400" dirty="0"/>
              <a:t>Tomás Ferreira – 70%</a:t>
            </a:r>
          </a:p>
          <a:p>
            <a:pPr lvl="1">
              <a:buFont typeface="+mj-lt"/>
              <a:buAutoNum type="arabicPeriod"/>
            </a:pPr>
            <a:r>
              <a:rPr lang="pt-PT" sz="1400" dirty="0"/>
              <a:t>Gonçalo Moreira – 30% </a:t>
            </a:r>
          </a:p>
        </p:txBody>
      </p:sp>
    </p:spTree>
    <p:extLst>
      <p:ext uri="{BB962C8B-B14F-4D97-AF65-F5344CB8AC3E}">
        <p14:creationId xmlns:p14="http://schemas.microsoft.com/office/powerpoint/2010/main" val="2747850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Faceta</Template>
  <TotalTime>278</TotalTime>
  <Words>650</Words>
  <Application>Microsoft Macintosh PowerPoint</Application>
  <PresentationFormat>Ecrã Panorâmico</PresentationFormat>
  <Paragraphs>62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Projeto 2 – Flight Manager</vt:lpstr>
      <vt:lpstr>Classes</vt:lpstr>
      <vt:lpstr>ReadFiles()</vt:lpstr>
      <vt:lpstr>Leitura de Dados</vt:lpstr>
      <vt:lpstr>Funcionalidades</vt:lpstr>
      <vt:lpstr>Funcionalidades</vt:lpstr>
      <vt:lpstr>Funcionalidades</vt:lpstr>
      <vt:lpstr>Interface (UI)</vt:lpstr>
      <vt:lpstr>UX</vt:lpstr>
      <vt:lpstr>Destaque para a melhor Funcionalidade</vt:lpstr>
      <vt:lpstr>Principais Dificuldades e Avaliação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Tomás Gonçalves Ribeiro Ferreira</dc:creator>
  <cp:lastModifiedBy>Tomás Gonçalves Ribeiro Ferreira</cp:lastModifiedBy>
  <cp:revision>5</cp:revision>
  <dcterms:created xsi:type="dcterms:W3CDTF">2024-01-02T18:50:50Z</dcterms:created>
  <dcterms:modified xsi:type="dcterms:W3CDTF">2024-01-03T00:01:13Z</dcterms:modified>
</cp:coreProperties>
</file>